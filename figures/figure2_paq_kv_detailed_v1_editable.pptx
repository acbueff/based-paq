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391775" cy="61372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8DD657-FD3E-4404-AB0E-5A751C776C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92F709-5883-4449-8DF0-DCB5363773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1F94E1-CADF-4990-8264-5519F40673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54F654-D232-4250-918B-554A31E2D6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A8EECD-9575-4FAC-94E6-6866FD14E8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BD246C-6C63-401A-9FB0-9CB30B9528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886844-43DF-49F3-9DF9-C915AFE697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CFE9E8-0A7A-4C0B-9647-E98DC58A10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2AA6B7-4BB7-4DD8-85D7-9E1F6E613A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FC000F-5501-4DD6-A204-C1FD3F8538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3BFA5F-FDAF-47EC-B967-8DFD4D786B4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7158AF-85D4-4F52-9141-0643F37AD2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46AAE5E-F643-4B2B-B1E9-950C838C8F0A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126000" y="108000"/>
            <a:ext cx="2988000" cy="2196000"/>
          </a:xfrm>
          <a:prstGeom prst="roundRect">
            <a:avLst/>
          </a:prstGeom>
          <a:solidFill>
            <a:srgbClr val="fffdf7"/>
          </a:solidFill>
          <a:ln w="16200">
            <a:solidFill>
              <a:srgbClr val="183447"/>
            </a:solidFill>
            <a:round/>
          </a:ln>
        </p:spPr>
      </p:sp>
      <p:sp>
        <p:nvSpPr>
          <p:cNvPr id="42" name=""/>
          <p:cNvSpPr txBox="1"/>
          <p:nvPr/>
        </p:nvSpPr>
        <p:spPr>
          <a:xfrm>
            <a:off x="190800" y="147600"/>
            <a:ext cx="288000" cy="811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200" spc="-1" strike="noStrike">
                <a:solidFill>
                  <a:srgbClr val="183447"/>
                </a:solidFill>
                <a:latin typeface="Times New Roman"/>
              </a:rPr>
              <a:t>(a)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45800"/>
            <a:ext cx="2577600" cy="299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200" spc="-1" strike="noStrike">
                <a:solidFill>
                  <a:srgbClr val="111111"/>
                </a:solidFill>
                <a:latin typeface="Times New Roman"/>
              </a:rPr>
              <a:t>Retain the full prefill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3186000" y="108000"/>
            <a:ext cx="7074000" cy="2196000"/>
          </a:xfrm>
          <a:prstGeom prst="roundRect">
            <a:avLst/>
          </a:prstGeom>
          <a:solidFill>
            <a:srgbClr val="fbfdff"/>
          </a:solidFill>
          <a:ln w="16200">
            <a:solidFill>
              <a:srgbClr val="183447"/>
            </a:solidFill>
            <a:round/>
          </a:ln>
        </p:spPr>
      </p:sp>
      <p:sp>
        <p:nvSpPr>
          <p:cNvPr id="45" name=""/>
          <p:cNvSpPr txBox="1"/>
          <p:nvPr/>
        </p:nvSpPr>
        <p:spPr>
          <a:xfrm>
            <a:off x="3250800" y="147600"/>
            <a:ext cx="288000" cy="811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200" spc="-1" strike="noStrike">
                <a:solidFill>
                  <a:srgbClr val="183447"/>
                </a:solidFill>
                <a:latin typeface="Times New Roman"/>
              </a:rPr>
              <a:t>(b)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3528000" y="145800"/>
            <a:ext cx="6663600" cy="299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200" spc="-1" strike="noStrike">
                <a:solidFill>
                  <a:srgbClr val="111111"/>
                </a:solidFill>
                <a:latin typeface="Times New Roman"/>
              </a:rPr>
              <a:t>Preview the question and score content blocks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26000" y="2376000"/>
            <a:ext cx="4896000" cy="24300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183447"/>
            </a:solidFill>
            <a:round/>
          </a:ln>
        </p:spPr>
      </p:sp>
      <p:sp>
        <p:nvSpPr>
          <p:cNvPr id="48" name=""/>
          <p:cNvSpPr txBox="1"/>
          <p:nvPr/>
        </p:nvSpPr>
        <p:spPr>
          <a:xfrm>
            <a:off x="190800" y="2415600"/>
            <a:ext cx="288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200" spc="-1" strike="noStrike">
                <a:solidFill>
                  <a:srgbClr val="183447"/>
                </a:solidFill>
                <a:latin typeface="Times New Roman"/>
              </a:rPr>
              <a:t>(c)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468000" y="2413800"/>
            <a:ext cx="4485600" cy="299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200" spc="-1" strike="noStrike">
                <a:solidFill>
                  <a:srgbClr val="111111"/>
                </a:solidFill>
                <a:latin typeface="Times New Roman"/>
              </a:rPr>
              <a:t>Build a per-query 4D additive mask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094000" y="2376000"/>
            <a:ext cx="5166000" cy="2430000"/>
          </a:xfrm>
          <a:prstGeom prst="roundRect">
            <a:avLst/>
          </a:prstGeom>
          <a:solidFill>
            <a:srgbClr val="fbfefd"/>
          </a:solidFill>
          <a:ln w="16200">
            <a:solidFill>
              <a:srgbClr val="183447"/>
            </a:solidFill>
            <a:round/>
          </a:ln>
        </p:spPr>
      </p:sp>
      <p:sp>
        <p:nvSpPr>
          <p:cNvPr id="51" name=""/>
          <p:cNvSpPr txBox="1"/>
          <p:nvPr/>
        </p:nvSpPr>
        <p:spPr>
          <a:xfrm>
            <a:off x="5158800" y="2415600"/>
            <a:ext cx="288000" cy="811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200" spc="-1" strike="noStrike">
                <a:solidFill>
                  <a:srgbClr val="183447"/>
                </a:solidFill>
                <a:latin typeface="Times New Roman"/>
              </a:rPr>
              <a:t>(d)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5436000" y="2413800"/>
            <a:ext cx="4755600" cy="299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200" spc="-1" strike="noStrike">
                <a:solidFill>
                  <a:srgbClr val="111111"/>
                </a:solidFill>
                <a:latin typeface="Times New Roman"/>
              </a:rPr>
              <a:t>Decode in place under Mⱼ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126000" y="4878000"/>
            <a:ext cx="10134000" cy="11160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183447"/>
            </a:solidFill>
            <a:round/>
          </a:ln>
        </p:spPr>
      </p:sp>
      <p:sp>
        <p:nvSpPr>
          <p:cNvPr id="54" name=""/>
          <p:cNvSpPr txBox="1"/>
          <p:nvPr/>
        </p:nvSpPr>
        <p:spPr>
          <a:xfrm>
            <a:off x="190800" y="4917600"/>
            <a:ext cx="288000" cy="811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200" spc="-1" strike="noStrike">
                <a:solidFill>
                  <a:srgbClr val="183447"/>
                </a:solidFill>
                <a:latin typeface="Times New Roman"/>
              </a:rPr>
              <a:t>(e)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468000" y="4915800"/>
            <a:ext cx="9723600" cy="299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200" spc="-1" strike="noStrike">
                <a:solidFill>
                  <a:srgbClr val="111111"/>
                </a:solidFill>
                <a:latin typeface="Times New Roman"/>
              </a:rPr>
              <a:t>Reversibility: discard the view, retain the memory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324000" y="403200"/>
            <a:ext cx="2376000" cy="187200"/>
          </a:xfrm>
          <a:prstGeom prst="roundRect">
            <a:avLst/>
          </a:prstGeom>
          <a:solidFill>
            <a:srgbClr val="fff0c8"/>
          </a:solidFill>
          <a:ln w="0">
            <a:noFill/>
          </a:ln>
        </p:spPr>
        <p:txBody>
          <a:bodyPr lIns="43200" rIns="43200" tIns="21600" bIns="21600" anchor="b" anchorCtr="1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eaa100"/>
                </a:solidFill>
                <a:latin typeface="Times New Roman"/>
              </a:rPr>
              <a:t>ONE-TIME SDPA PREFILL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363600" y="864000"/>
            <a:ext cx="331200" cy="4320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</p:sp>
      <p:sp>
        <p:nvSpPr>
          <p:cNvPr id="58" name=""/>
          <p:cNvSpPr/>
          <p:nvPr/>
        </p:nvSpPr>
        <p:spPr>
          <a:xfrm>
            <a:off x="334800" y="838800"/>
            <a:ext cx="331200" cy="432000"/>
          </a:xfrm>
          <a:prstGeom prst="roundRect">
            <a:avLst/>
          </a:prstGeom>
          <a:solidFill>
            <a:srgbClr val="d6d6d6"/>
          </a:solidFill>
          <a:ln w="0">
            <a:noFill/>
          </a:ln>
        </p:spPr>
      </p:sp>
      <p:sp>
        <p:nvSpPr>
          <p:cNvPr id="59" name=""/>
          <p:cNvSpPr/>
          <p:nvPr/>
        </p:nvSpPr>
        <p:spPr>
          <a:xfrm>
            <a:off x="306000" y="810000"/>
            <a:ext cx="331200" cy="432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aeb7bf"/>
            </a:solidFill>
            <a:round/>
          </a:ln>
        </p:spPr>
      </p:sp>
      <p:sp>
        <p:nvSpPr>
          <p:cNvPr id="60" name=""/>
          <p:cNvSpPr/>
          <p:nvPr/>
        </p:nvSpPr>
        <p:spPr>
          <a:xfrm>
            <a:off x="363600" y="856800"/>
            <a:ext cx="216000" cy="39600"/>
          </a:xfrm>
          <a:prstGeom prst="rect">
            <a:avLst/>
          </a:prstGeom>
          <a:solidFill>
            <a:srgbClr val="eaa100"/>
          </a:solidFill>
          <a:ln w="0">
            <a:noFill/>
          </a:ln>
        </p:spPr>
      </p:sp>
      <p:sp>
        <p:nvSpPr>
          <p:cNvPr id="61" name=""/>
          <p:cNvSpPr/>
          <p:nvPr/>
        </p:nvSpPr>
        <p:spPr>
          <a:xfrm>
            <a:off x="367200" y="957600"/>
            <a:ext cx="201600" cy="0"/>
          </a:xfrm>
          <a:prstGeom prst="line">
            <a:avLst/>
          </a:prstGeom>
          <a:ln w="6480">
            <a:solidFill>
              <a:srgbClr val="66727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"/>
          <p:cNvSpPr/>
          <p:nvPr/>
        </p:nvSpPr>
        <p:spPr>
          <a:xfrm>
            <a:off x="367200" y="1018800"/>
            <a:ext cx="201600" cy="0"/>
          </a:xfrm>
          <a:prstGeom prst="line">
            <a:avLst/>
          </a:prstGeom>
          <a:ln w="6480">
            <a:solidFill>
              <a:srgbClr val="66727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"/>
          <p:cNvSpPr/>
          <p:nvPr/>
        </p:nvSpPr>
        <p:spPr>
          <a:xfrm>
            <a:off x="367200" y="1080000"/>
            <a:ext cx="201600" cy="0"/>
          </a:xfrm>
          <a:prstGeom prst="line">
            <a:avLst/>
          </a:prstGeom>
          <a:ln w="6480">
            <a:solidFill>
              <a:srgbClr val="66727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"/>
          <p:cNvSpPr/>
          <p:nvPr/>
        </p:nvSpPr>
        <p:spPr>
          <a:xfrm>
            <a:off x="367200" y="1141200"/>
            <a:ext cx="201600" cy="0"/>
          </a:xfrm>
          <a:prstGeom prst="line">
            <a:avLst/>
          </a:prstGeom>
          <a:ln w="6480">
            <a:solidFill>
              <a:srgbClr val="66727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"/>
          <p:cNvSpPr txBox="1"/>
          <p:nvPr/>
        </p:nvSpPr>
        <p:spPr>
          <a:xfrm>
            <a:off x="219600" y="1314000"/>
            <a:ext cx="684000" cy="811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900" spc="-1" strike="noStrike">
                <a:solidFill>
                  <a:srgbClr val="111111"/>
                </a:solidFill>
                <a:latin typeface="Times New Roman"/>
              </a:rPr>
              <a:t>page images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846000" y="1015200"/>
            <a:ext cx="342000" cy="0"/>
          </a:xfrm>
          <a:prstGeom prst="line">
            <a:avLst/>
          </a:prstGeom>
          <a:ln w="16200">
            <a:solidFill>
              <a:srgbClr val="18344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"/>
          <p:cNvSpPr/>
          <p:nvPr/>
        </p:nvSpPr>
        <p:spPr>
          <a:xfrm>
            <a:off x="1188000" y="666000"/>
            <a:ext cx="1656000" cy="1152000"/>
          </a:xfrm>
          <a:prstGeom prst="roundRect">
            <a:avLst/>
          </a:prstGeom>
          <a:solidFill>
            <a:srgbClr val="ffffff"/>
          </a:solidFill>
          <a:ln w="14400">
            <a:solidFill>
              <a:srgbClr val="183447"/>
            </a:solidFill>
            <a:round/>
          </a:ln>
        </p:spPr>
      </p:sp>
      <p:sp>
        <p:nvSpPr>
          <p:cNvPr id="68" name=""/>
          <p:cNvSpPr txBox="1"/>
          <p:nvPr/>
        </p:nvSpPr>
        <p:spPr>
          <a:xfrm>
            <a:off x="1260000" y="712800"/>
            <a:ext cx="1512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183447"/>
                </a:solidFill>
                <a:latin typeface="Times New Roman"/>
              </a:rPr>
              <a:t>Retained cache C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260000" y="864000"/>
            <a:ext cx="1512000" cy="1067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800" spc="-1" strike="noStrike">
                <a:solidFill>
                  <a:srgbClr val="66727e"/>
                </a:solidFill>
                <a:latin typeface="Times New Roman"/>
              </a:rPr>
              <a:t>n context tokens · original positions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278000" y="1080000"/>
            <a:ext cx="187200" cy="295200"/>
          </a:xfrm>
          <a:prstGeom prst="roundRect">
            <a:avLst/>
          </a:prstGeom>
          <a:solidFill>
            <a:srgbClr val="eaa100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Times New Roman"/>
              </a:rPr>
              <a:t>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501200" y="1080000"/>
            <a:ext cx="234000" cy="295200"/>
          </a:xfrm>
          <a:prstGeom prst="roundRect">
            <a:avLst/>
          </a:prstGeom>
          <a:solidFill>
            <a:srgbClr val="dcebfa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Times New Roman"/>
              </a:rPr>
              <a:t>B₁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771200" y="1080000"/>
            <a:ext cx="151200" cy="295200"/>
          </a:xfrm>
          <a:prstGeom prst="roundRect">
            <a:avLst/>
          </a:prstGeom>
          <a:solidFill>
            <a:srgbClr val="dcebfa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Times New Roman"/>
              </a:rPr>
              <a:t>⋯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958400" y="1080000"/>
            <a:ext cx="234000" cy="2952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Times New Roman"/>
              </a:rPr>
              <a:t>Bᵢ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228400" y="1080000"/>
            <a:ext cx="151200" cy="295200"/>
          </a:xfrm>
          <a:prstGeom prst="roundRect">
            <a:avLst/>
          </a:prstGeom>
          <a:solidFill>
            <a:srgbClr val="dcebfa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Times New Roman"/>
              </a:rPr>
              <a:t>⋯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2415600" y="1080000"/>
            <a:ext cx="234000" cy="295200"/>
          </a:xfrm>
          <a:prstGeom prst="roundRect">
            <a:avLst/>
          </a:prstGeom>
          <a:solidFill>
            <a:srgbClr val="dcebfa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Times New Roman"/>
              </a:rPr>
              <a:t>Bₘ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1278000" y="1472400"/>
            <a:ext cx="1422000" cy="0"/>
          </a:xfrm>
          <a:prstGeom prst="line">
            <a:avLst/>
          </a:prstGeom>
          <a:ln w="9000">
            <a:solidFill>
              <a:srgbClr val="18344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"/>
          <p:cNvSpPr txBox="1"/>
          <p:nvPr/>
        </p:nvSpPr>
        <p:spPr>
          <a:xfrm>
            <a:off x="1278000" y="1512000"/>
            <a:ext cx="1440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0" lang="en-US" sz="750" spc="-1" strike="noStrike">
                <a:solidFill>
                  <a:srgbClr val="66727e"/>
                </a:solidFill>
                <a:latin typeface="Times New Roman"/>
              </a:rPr>
              <a:t>0                         nctx − 1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954000" y="1872000"/>
            <a:ext cx="1926000" cy="223200"/>
          </a:xfrm>
          <a:prstGeom prst="roundRect">
            <a:avLst/>
          </a:prstGeom>
          <a:solidFill>
            <a:srgbClr val="183447"/>
          </a:solidFill>
          <a:ln w="0">
            <a:noFill/>
          </a:ln>
        </p:spPr>
        <p:txBody>
          <a:bodyPr lIns="43200" rIns="43200" tIns="21600" bIns="21600" anchor="b" anchorCtr="1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Times New Roman"/>
              </a:rPr>
              <a:t>Always keep S: BOS / system / template scaffold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3348000" y="612000"/>
            <a:ext cx="1152000" cy="468000"/>
          </a:xfrm>
          <a:prstGeom prst="roundRect">
            <a:avLst/>
          </a:prstGeom>
          <a:solidFill>
            <a:srgbClr val="eef5fc"/>
          </a:solidFill>
          <a:ln w="9000">
            <a:solidFill>
              <a:srgbClr val="2f78d1"/>
            </a:solidFill>
            <a:round/>
          </a:ln>
        </p:spPr>
        <p:txBody>
          <a:bodyPr lIns="43200" rIns="43200" tIns="21600" bIns="21600" anchor="b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1e5eae"/>
                </a:solidFill>
                <a:latin typeface="Times New Roman"/>
              </a:rPr>
              <a:t>qⱼ  question tokens</a:t>
            </a:r>
            <a:endParaRPr b="0" lang="en-US" sz="900" spc="-1" strike="noStrike">
              <a:latin typeface="Arial"/>
            </a:endParaRPr>
          </a:p>
          <a:p>
            <a:pPr algn="ctr">
              <a:buNone/>
            </a:pPr>
            <a:r>
              <a:rPr b="1" lang="en-US" sz="900" spc="-1" strike="noStrike">
                <a:solidFill>
                  <a:srgbClr val="1e5eae"/>
                </a:solidFill>
                <a:latin typeface="Times New Roman"/>
              </a:rPr>
              <a:t>forwarded over C once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4518000" y="846000"/>
            <a:ext cx="414000" cy="0"/>
          </a:xfrm>
          <a:prstGeom prst="line">
            <a:avLst/>
          </a:prstGeom>
          <a:ln w="16200">
            <a:solidFill>
              <a:srgbClr val="2f78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"/>
          <p:cNvSpPr/>
          <p:nvPr/>
        </p:nvSpPr>
        <p:spPr>
          <a:xfrm>
            <a:off x="4968000" y="504000"/>
            <a:ext cx="2844000" cy="900000"/>
          </a:xfrm>
          <a:prstGeom prst="roundRect">
            <a:avLst/>
          </a:prstGeom>
          <a:solidFill>
            <a:srgbClr val="ffffff"/>
          </a:solidFill>
          <a:ln w="12600">
            <a:solidFill>
              <a:srgbClr val="183447"/>
            </a:solidFill>
            <a:round/>
          </a:ln>
        </p:spPr>
      </p:sp>
      <p:sp>
        <p:nvSpPr>
          <p:cNvPr id="82" name=""/>
          <p:cNvSpPr txBox="1"/>
          <p:nvPr/>
        </p:nvSpPr>
        <p:spPr>
          <a:xfrm>
            <a:off x="5076000" y="558000"/>
            <a:ext cx="2628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100" spc="-1" strike="noStrike">
                <a:solidFill>
                  <a:srgbClr val="183447"/>
                </a:solidFill>
                <a:latin typeface="Times New Roman"/>
              </a:rPr>
              <a:t>Question → Context Attention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5076000" y="687600"/>
            <a:ext cx="2628000" cy="811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0" lang="en-US" sz="800" spc="-1" strike="noStrike">
                <a:solidFill>
                  <a:srgbClr val="66727e"/>
                </a:solidFill>
                <a:latin typeface="Times New Roman"/>
              </a:rPr>
              <a:t>eager preview · per-layer hooks · immediate reduction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5292000" y="882000"/>
            <a:ext cx="246600" cy="99000"/>
          </a:xfrm>
          <a:prstGeom prst="roundRect">
            <a:avLst/>
          </a:prstGeom>
          <a:solidFill>
            <a:srgbClr val="fff0c8"/>
          </a:solidFill>
          <a:ln w="0">
            <a:noFill/>
          </a:ln>
        </p:spPr>
      </p:sp>
      <p:sp>
        <p:nvSpPr>
          <p:cNvPr id="85" name=""/>
          <p:cNvSpPr/>
          <p:nvPr/>
        </p:nvSpPr>
        <p:spPr>
          <a:xfrm>
            <a:off x="5554800" y="882000"/>
            <a:ext cx="246600" cy="99000"/>
          </a:xfrm>
          <a:prstGeom prst="roundRect">
            <a:avLst/>
          </a:prstGeom>
          <a:solidFill>
            <a:srgbClr val="dcebfa"/>
          </a:solidFill>
          <a:ln w="0">
            <a:noFill/>
          </a:ln>
        </p:spPr>
      </p:sp>
      <p:sp>
        <p:nvSpPr>
          <p:cNvPr id="86" name=""/>
          <p:cNvSpPr/>
          <p:nvPr/>
        </p:nvSpPr>
        <p:spPr>
          <a:xfrm>
            <a:off x="5817600" y="882000"/>
            <a:ext cx="246600" cy="99000"/>
          </a:xfrm>
          <a:prstGeom prst="roundRect">
            <a:avLst/>
          </a:prstGeom>
          <a:solidFill>
            <a:srgbClr val="dcebfa"/>
          </a:solidFill>
          <a:ln w="0">
            <a:noFill/>
          </a:ln>
        </p:spPr>
      </p:sp>
      <p:sp>
        <p:nvSpPr>
          <p:cNvPr id="87" name=""/>
          <p:cNvSpPr/>
          <p:nvPr/>
        </p:nvSpPr>
        <p:spPr>
          <a:xfrm>
            <a:off x="6080400" y="882000"/>
            <a:ext cx="246600" cy="99000"/>
          </a:xfrm>
          <a:prstGeom prst="roundRect">
            <a:avLst/>
          </a:prstGeom>
          <a:solidFill>
            <a:srgbClr val="9fc4eb"/>
          </a:solidFill>
          <a:ln w="0">
            <a:noFill/>
          </a:ln>
        </p:spPr>
      </p:sp>
      <p:sp>
        <p:nvSpPr>
          <p:cNvPr id="88" name=""/>
          <p:cNvSpPr/>
          <p:nvPr/>
        </p:nvSpPr>
        <p:spPr>
          <a:xfrm>
            <a:off x="6343200" y="882000"/>
            <a:ext cx="246600" cy="990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</p:sp>
      <p:sp>
        <p:nvSpPr>
          <p:cNvPr id="89" name=""/>
          <p:cNvSpPr/>
          <p:nvPr/>
        </p:nvSpPr>
        <p:spPr>
          <a:xfrm>
            <a:off x="6606000" y="882000"/>
            <a:ext cx="246600" cy="99000"/>
          </a:xfrm>
          <a:prstGeom prst="roundRect">
            <a:avLst/>
          </a:prstGeom>
          <a:solidFill>
            <a:srgbClr val="dcebfa"/>
          </a:solidFill>
          <a:ln w="0">
            <a:noFill/>
          </a:ln>
        </p:spPr>
      </p:sp>
      <p:sp>
        <p:nvSpPr>
          <p:cNvPr id="90" name=""/>
          <p:cNvSpPr/>
          <p:nvPr/>
        </p:nvSpPr>
        <p:spPr>
          <a:xfrm>
            <a:off x="6868800" y="882000"/>
            <a:ext cx="246600" cy="99000"/>
          </a:xfrm>
          <a:prstGeom prst="roundRect">
            <a:avLst/>
          </a:prstGeom>
          <a:solidFill>
            <a:srgbClr val="dcebfa"/>
          </a:solidFill>
          <a:ln w="0">
            <a:noFill/>
          </a:ln>
        </p:spPr>
      </p:sp>
      <p:sp>
        <p:nvSpPr>
          <p:cNvPr id="91" name=""/>
          <p:cNvSpPr/>
          <p:nvPr/>
        </p:nvSpPr>
        <p:spPr>
          <a:xfrm>
            <a:off x="7131600" y="882000"/>
            <a:ext cx="246600" cy="990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</p:sp>
      <p:sp>
        <p:nvSpPr>
          <p:cNvPr id="92" name=""/>
          <p:cNvSpPr/>
          <p:nvPr/>
        </p:nvSpPr>
        <p:spPr>
          <a:xfrm>
            <a:off x="5292000" y="997200"/>
            <a:ext cx="246600" cy="99000"/>
          </a:xfrm>
          <a:prstGeom prst="roundRect">
            <a:avLst/>
          </a:prstGeom>
          <a:solidFill>
            <a:srgbClr val="fff0c8"/>
          </a:solidFill>
          <a:ln w="0">
            <a:noFill/>
          </a:ln>
        </p:spPr>
      </p:sp>
      <p:sp>
        <p:nvSpPr>
          <p:cNvPr id="93" name=""/>
          <p:cNvSpPr/>
          <p:nvPr/>
        </p:nvSpPr>
        <p:spPr>
          <a:xfrm>
            <a:off x="5554800" y="997200"/>
            <a:ext cx="246600" cy="99000"/>
          </a:xfrm>
          <a:prstGeom prst="roundRect">
            <a:avLst/>
          </a:prstGeom>
          <a:solidFill>
            <a:srgbClr val="dcebfa"/>
          </a:solidFill>
          <a:ln w="0">
            <a:noFill/>
          </a:ln>
        </p:spPr>
      </p:sp>
      <p:sp>
        <p:nvSpPr>
          <p:cNvPr id="94" name=""/>
          <p:cNvSpPr/>
          <p:nvPr/>
        </p:nvSpPr>
        <p:spPr>
          <a:xfrm>
            <a:off x="5817600" y="997200"/>
            <a:ext cx="246600" cy="99000"/>
          </a:xfrm>
          <a:prstGeom prst="roundRect">
            <a:avLst/>
          </a:prstGeom>
          <a:solidFill>
            <a:srgbClr val="9fc4eb"/>
          </a:solidFill>
          <a:ln w="0">
            <a:noFill/>
          </a:ln>
        </p:spPr>
      </p:sp>
      <p:sp>
        <p:nvSpPr>
          <p:cNvPr id="95" name=""/>
          <p:cNvSpPr/>
          <p:nvPr/>
        </p:nvSpPr>
        <p:spPr>
          <a:xfrm>
            <a:off x="6080400" y="997200"/>
            <a:ext cx="246600" cy="99000"/>
          </a:xfrm>
          <a:prstGeom prst="roundRect">
            <a:avLst/>
          </a:prstGeom>
          <a:solidFill>
            <a:srgbClr val="dcebfa"/>
          </a:solidFill>
          <a:ln w="0">
            <a:noFill/>
          </a:ln>
        </p:spPr>
      </p:sp>
      <p:sp>
        <p:nvSpPr>
          <p:cNvPr id="96" name=""/>
          <p:cNvSpPr/>
          <p:nvPr/>
        </p:nvSpPr>
        <p:spPr>
          <a:xfrm>
            <a:off x="6343200" y="997200"/>
            <a:ext cx="246600" cy="990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</p:sp>
      <p:sp>
        <p:nvSpPr>
          <p:cNvPr id="97" name=""/>
          <p:cNvSpPr/>
          <p:nvPr/>
        </p:nvSpPr>
        <p:spPr>
          <a:xfrm>
            <a:off x="6606000" y="997200"/>
            <a:ext cx="246600" cy="99000"/>
          </a:xfrm>
          <a:prstGeom prst="roundRect">
            <a:avLst/>
          </a:prstGeom>
          <a:solidFill>
            <a:srgbClr val="dcebfa"/>
          </a:solidFill>
          <a:ln w="0">
            <a:noFill/>
          </a:ln>
        </p:spPr>
      </p:sp>
      <p:sp>
        <p:nvSpPr>
          <p:cNvPr id="98" name=""/>
          <p:cNvSpPr/>
          <p:nvPr/>
        </p:nvSpPr>
        <p:spPr>
          <a:xfrm>
            <a:off x="6868800" y="997200"/>
            <a:ext cx="246600" cy="99000"/>
          </a:xfrm>
          <a:prstGeom prst="roundRect">
            <a:avLst/>
          </a:prstGeom>
          <a:solidFill>
            <a:srgbClr val="9fc4eb"/>
          </a:solidFill>
          <a:ln w="0">
            <a:noFill/>
          </a:ln>
        </p:spPr>
      </p:sp>
      <p:sp>
        <p:nvSpPr>
          <p:cNvPr id="99" name=""/>
          <p:cNvSpPr/>
          <p:nvPr/>
        </p:nvSpPr>
        <p:spPr>
          <a:xfrm>
            <a:off x="7131600" y="997200"/>
            <a:ext cx="246600" cy="99000"/>
          </a:xfrm>
          <a:prstGeom prst="roundRect">
            <a:avLst/>
          </a:prstGeom>
          <a:solidFill>
            <a:srgbClr val="dcebfa"/>
          </a:solidFill>
          <a:ln w="0">
            <a:noFill/>
          </a:ln>
        </p:spPr>
      </p:sp>
      <p:sp>
        <p:nvSpPr>
          <p:cNvPr id="100" name=""/>
          <p:cNvSpPr/>
          <p:nvPr/>
        </p:nvSpPr>
        <p:spPr>
          <a:xfrm>
            <a:off x="5292000" y="1112400"/>
            <a:ext cx="246600" cy="99000"/>
          </a:xfrm>
          <a:prstGeom prst="roundRect">
            <a:avLst/>
          </a:prstGeom>
          <a:solidFill>
            <a:srgbClr val="fff0c8"/>
          </a:solidFill>
          <a:ln w="0">
            <a:noFill/>
          </a:ln>
        </p:spPr>
      </p:sp>
      <p:sp>
        <p:nvSpPr>
          <p:cNvPr id="101" name=""/>
          <p:cNvSpPr/>
          <p:nvPr/>
        </p:nvSpPr>
        <p:spPr>
          <a:xfrm>
            <a:off x="5554800" y="1112400"/>
            <a:ext cx="246600" cy="99000"/>
          </a:xfrm>
          <a:prstGeom prst="roundRect">
            <a:avLst/>
          </a:prstGeom>
          <a:solidFill>
            <a:srgbClr val="dcebfa"/>
          </a:solidFill>
          <a:ln w="0">
            <a:noFill/>
          </a:ln>
        </p:spPr>
      </p:sp>
      <p:sp>
        <p:nvSpPr>
          <p:cNvPr id="102" name=""/>
          <p:cNvSpPr/>
          <p:nvPr/>
        </p:nvSpPr>
        <p:spPr>
          <a:xfrm>
            <a:off x="5817600" y="1112400"/>
            <a:ext cx="246600" cy="99000"/>
          </a:xfrm>
          <a:prstGeom prst="roundRect">
            <a:avLst/>
          </a:prstGeom>
          <a:solidFill>
            <a:srgbClr val="9fc4eb"/>
          </a:solidFill>
          <a:ln w="0">
            <a:noFill/>
          </a:ln>
        </p:spPr>
      </p:sp>
      <p:sp>
        <p:nvSpPr>
          <p:cNvPr id="103" name=""/>
          <p:cNvSpPr/>
          <p:nvPr/>
        </p:nvSpPr>
        <p:spPr>
          <a:xfrm>
            <a:off x="6080400" y="1112400"/>
            <a:ext cx="246600" cy="99000"/>
          </a:xfrm>
          <a:prstGeom prst="roundRect">
            <a:avLst/>
          </a:prstGeom>
          <a:solidFill>
            <a:srgbClr val="dcebfa"/>
          </a:solidFill>
          <a:ln w="0">
            <a:noFill/>
          </a:ln>
        </p:spPr>
      </p:sp>
      <p:sp>
        <p:nvSpPr>
          <p:cNvPr id="104" name=""/>
          <p:cNvSpPr/>
          <p:nvPr/>
        </p:nvSpPr>
        <p:spPr>
          <a:xfrm>
            <a:off x="6343200" y="1112400"/>
            <a:ext cx="246600" cy="990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</p:sp>
      <p:sp>
        <p:nvSpPr>
          <p:cNvPr id="105" name=""/>
          <p:cNvSpPr/>
          <p:nvPr/>
        </p:nvSpPr>
        <p:spPr>
          <a:xfrm>
            <a:off x="6606000" y="1112400"/>
            <a:ext cx="246600" cy="99000"/>
          </a:xfrm>
          <a:prstGeom prst="roundRect">
            <a:avLst/>
          </a:prstGeom>
          <a:solidFill>
            <a:srgbClr val="dcebfa"/>
          </a:solidFill>
          <a:ln w="0">
            <a:noFill/>
          </a:ln>
        </p:spPr>
      </p:sp>
      <p:sp>
        <p:nvSpPr>
          <p:cNvPr id="106" name=""/>
          <p:cNvSpPr/>
          <p:nvPr/>
        </p:nvSpPr>
        <p:spPr>
          <a:xfrm>
            <a:off x="6868800" y="1112400"/>
            <a:ext cx="246600" cy="99000"/>
          </a:xfrm>
          <a:prstGeom prst="roundRect">
            <a:avLst/>
          </a:prstGeom>
          <a:solidFill>
            <a:srgbClr val="9fc4eb"/>
          </a:solidFill>
          <a:ln w="0">
            <a:noFill/>
          </a:ln>
        </p:spPr>
      </p:sp>
      <p:sp>
        <p:nvSpPr>
          <p:cNvPr id="107" name=""/>
          <p:cNvSpPr/>
          <p:nvPr/>
        </p:nvSpPr>
        <p:spPr>
          <a:xfrm>
            <a:off x="7131600" y="1112400"/>
            <a:ext cx="246600" cy="990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</p:sp>
      <p:sp>
        <p:nvSpPr>
          <p:cNvPr id="108" name=""/>
          <p:cNvSpPr/>
          <p:nvPr/>
        </p:nvSpPr>
        <p:spPr>
          <a:xfrm>
            <a:off x="7866000" y="954000"/>
            <a:ext cx="378000" cy="0"/>
          </a:xfrm>
          <a:prstGeom prst="line">
            <a:avLst/>
          </a:prstGeom>
          <a:ln w="16200">
            <a:solidFill>
              <a:srgbClr val="2f78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"/>
          <p:cNvSpPr/>
          <p:nvPr/>
        </p:nvSpPr>
        <p:spPr>
          <a:xfrm>
            <a:off x="8280000" y="504000"/>
            <a:ext cx="1674000" cy="900000"/>
          </a:xfrm>
          <a:prstGeom prst="roundRect">
            <a:avLst/>
          </a:prstGeom>
          <a:solidFill>
            <a:srgbClr val="ffffff"/>
          </a:solidFill>
          <a:ln w="12600">
            <a:solidFill>
              <a:srgbClr val="183447"/>
            </a:solidFill>
            <a:round/>
          </a:ln>
        </p:spPr>
      </p:sp>
      <p:sp>
        <p:nvSpPr>
          <p:cNvPr id="110" name=""/>
          <p:cNvSpPr txBox="1"/>
          <p:nvPr/>
        </p:nvSpPr>
        <p:spPr>
          <a:xfrm>
            <a:off x="8388000" y="558000"/>
            <a:ext cx="1458000" cy="299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100" spc="-1" strike="noStrike">
                <a:solidFill>
                  <a:srgbClr val="183447"/>
                </a:solidFill>
                <a:latin typeface="Times New Roman"/>
              </a:rPr>
              <a:t>Block scores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8388000" y="691200"/>
            <a:ext cx="1458000" cy="1067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0" lang="en-US" sz="800" spc="-1" strike="noStrike">
                <a:solidFill>
                  <a:srgbClr val="66727e"/>
                </a:solidFill>
                <a:latin typeface="Times New Roman"/>
              </a:rPr>
              <a:t>aggregate layers, heads, queries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8442000" y="1184400"/>
            <a:ext cx="151200" cy="90000"/>
          </a:xfrm>
          <a:prstGeom prst="roundRect">
            <a:avLst/>
          </a:prstGeom>
          <a:solidFill>
            <a:srgbClr val="9fc4eb"/>
          </a:solidFill>
          <a:ln w="0">
            <a:noFill/>
          </a:ln>
        </p:spPr>
      </p:sp>
      <p:sp>
        <p:nvSpPr>
          <p:cNvPr id="113" name=""/>
          <p:cNvSpPr/>
          <p:nvPr/>
        </p:nvSpPr>
        <p:spPr>
          <a:xfrm>
            <a:off x="8661600" y="1040400"/>
            <a:ext cx="151200" cy="234000"/>
          </a:xfrm>
          <a:prstGeom prst="roundRect">
            <a:avLst/>
          </a:prstGeom>
          <a:solidFill>
            <a:srgbClr val="9fc4eb"/>
          </a:solidFill>
          <a:ln w="0">
            <a:noFill/>
          </a:ln>
        </p:spPr>
      </p:sp>
      <p:sp>
        <p:nvSpPr>
          <p:cNvPr id="114" name=""/>
          <p:cNvSpPr/>
          <p:nvPr/>
        </p:nvSpPr>
        <p:spPr>
          <a:xfrm>
            <a:off x="8881200" y="1134000"/>
            <a:ext cx="151200" cy="140400"/>
          </a:xfrm>
          <a:prstGeom prst="roundRect">
            <a:avLst/>
          </a:prstGeom>
          <a:solidFill>
            <a:srgbClr val="9fc4eb"/>
          </a:solidFill>
          <a:ln w="0">
            <a:noFill/>
          </a:ln>
        </p:spPr>
      </p:sp>
      <p:sp>
        <p:nvSpPr>
          <p:cNvPr id="115" name=""/>
          <p:cNvSpPr/>
          <p:nvPr/>
        </p:nvSpPr>
        <p:spPr>
          <a:xfrm>
            <a:off x="9100800" y="914400"/>
            <a:ext cx="151200" cy="3600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</p:sp>
      <p:sp>
        <p:nvSpPr>
          <p:cNvPr id="116" name=""/>
          <p:cNvSpPr/>
          <p:nvPr/>
        </p:nvSpPr>
        <p:spPr>
          <a:xfrm>
            <a:off x="9320400" y="1058400"/>
            <a:ext cx="151200" cy="216000"/>
          </a:xfrm>
          <a:prstGeom prst="roundRect">
            <a:avLst/>
          </a:prstGeom>
          <a:solidFill>
            <a:srgbClr val="9fc4eb"/>
          </a:solidFill>
          <a:ln w="0">
            <a:noFill/>
          </a:ln>
        </p:spPr>
      </p:sp>
      <p:sp>
        <p:nvSpPr>
          <p:cNvPr id="117" name=""/>
          <p:cNvSpPr/>
          <p:nvPr/>
        </p:nvSpPr>
        <p:spPr>
          <a:xfrm>
            <a:off x="9540000" y="871200"/>
            <a:ext cx="151200" cy="4032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</p:sp>
      <p:sp>
        <p:nvSpPr>
          <p:cNvPr id="118" name=""/>
          <p:cNvSpPr/>
          <p:nvPr/>
        </p:nvSpPr>
        <p:spPr>
          <a:xfrm>
            <a:off x="8416800" y="1281600"/>
            <a:ext cx="1393200" cy="0"/>
          </a:xfrm>
          <a:prstGeom prst="line">
            <a:avLst/>
          </a:prstGeom>
          <a:ln w="9000">
            <a:solidFill>
              <a:srgbClr val="18344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"/>
          <p:cNvSpPr txBox="1"/>
          <p:nvPr/>
        </p:nvSpPr>
        <p:spPr>
          <a:xfrm>
            <a:off x="3456000" y="1512000"/>
            <a:ext cx="2340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1000" spc="-1" strike="noStrike">
                <a:solidFill>
                  <a:srgbClr val="183447"/>
                </a:solidFill>
                <a:latin typeface="Times New Roman"/>
              </a:rPr>
              <a:t>TOP-BUDGET RE-SELECTION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7848000" y="1512000"/>
            <a:ext cx="1908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r">
              <a:buNone/>
            </a:pPr>
            <a:r>
              <a:rPr b="1" lang="en-US" sz="900" spc="-1" strike="noStrike">
                <a:solidFill>
                  <a:srgbClr val="1e5eae"/>
                </a:solidFill>
                <a:latin typeface="Times New Roman"/>
              </a:rPr>
              <a:t>b = 5% nominal budget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3528000" y="1720800"/>
            <a:ext cx="414000" cy="252000"/>
          </a:xfrm>
          <a:prstGeom prst="roundRect">
            <a:avLst/>
          </a:prstGeom>
          <a:solidFill>
            <a:srgbClr val="eaa100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Times New Roman"/>
              </a:rPr>
              <a:t>A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3996000" y="1720800"/>
            <a:ext cx="414000" cy="2520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</p:sp>
      <p:sp>
        <p:nvSpPr>
          <p:cNvPr id="123" name=""/>
          <p:cNvSpPr/>
          <p:nvPr/>
        </p:nvSpPr>
        <p:spPr>
          <a:xfrm>
            <a:off x="4464000" y="1720800"/>
            <a:ext cx="414000" cy="2520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</p:sp>
      <p:sp>
        <p:nvSpPr>
          <p:cNvPr id="124" name=""/>
          <p:cNvSpPr/>
          <p:nvPr/>
        </p:nvSpPr>
        <p:spPr>
          <a:xfrm>
            <a:off x="4932000" y="1720800"/>
            <a:ext cx="414000" cy="2520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</p:sp>
      <p:sp>
        <p:nvSpPr>
          <p:cNvPr id="125" name=""/>
          <p:cNvSpPr/>
          <p:nvPr/>
        </p:nvSpPr>
        <p:spPr>
          <a:xfrm>
            <a:off x="5400000" y="1720800"/>
            <a:ext cx="414000" cy="2520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</p:sp>
      <p:sp>
        <p:nvSpPr>
          <p:cNvPr id="126" name=""/>
          <p:cNvSpPr/>
          <p:nvPr/>
        </p:nvSpPr>
        <p:spPr>
          <a:xfrm>
            <a:off x="5868000" y="1720800"/>
            <a:ext cx="414000" cy="2520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</p:sp>
      <p:sp>
        <p:nvSpPr>
          <p:cNvPr id="127" name=""/>
          <p:cNvSpPr/>
          <p:nvPr/>
        </p:nvSpPr>
        <p:spPr>
          <a:xfrm>
            <a:off x="6336000" y="1720800"/>
            <a:ext cx="414000" cy="2520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</p:sp>
      <p:sp>
        <p:nvSpPr>
          <p:cNvPr id="128" name=""/>
          <p:cNvSpPr/>
          <p:nvPr/>
        </p:nvSpPr>
        <p:spPr>
          <a:xfrm>
            <a:off x="6804000" y="1720800"/>
            <a:ext cx="414000" cy="2520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</p:sp>
      <p:sp>
        <p:nvSpPr>
          <p:cNvPr id="129" name=""/>
          <p:cNvSpPr/>
          <p:nvPr/>
        </p:nvSpPr>
        <p:spPr>
          <a:xfrm>
            <a:off x="7272000" y="1720800"/>
            <a:ext cx="414000" cy="2520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</p:sp>
      <p:sp>
        <p:nvSpPr>
          <p:cNvPr id="130" name=""/>
          <p:cNvSpPr txBox="1"/>
          <p:nvPr/>
        </p:nvSpPr>
        <p:spPr>
          <a:xfrm>
            <a:off x="3456000" y="2034000"/>
            <a:ext cx="5976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0" lang="en-US" sz="800" spc="-1" strike="noStrike">
                <a:solidFill>
                  <a:srgbClr val="66727e"/>
                </a:solidFill>
                <a:latin typeface="Times New Roman"/>
              </a:rPr>
              <a:t>selected blue blocks define the view; unselected blocks remain in C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295200" y="2678400"/>
            <a:ext cx="1872000" cy="216000"/>
          </a:xfrm>
          <a:prstGeom prst="roundRect">
            <a:avLst/>
          </a:prstGeom>
          <a:solidFill>
            <a:srgbClr val="183447"/>
          </a:solidFill>
          <a:ln w="0">
            <a:noFill/>
          </a:ln>
        </p:spPr>
        <p:txBody>
          <a:bodyPr lIns="43200" rIns="43200" tIns="21600" bIns="21600" anchor="b" anchorCtr="1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Times New Roman"/>
              </a:rPr>
              <a:t>Mⱼ ∈ ℝᴮ×ᴴ×Q×K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2340000" y="2678400"/>
            <a:ext cx="2304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111111"/>
                </a:solidFill>
                <a:latin typeface="Times New Roman"/>
              </a:rPr>
              <a:t>one slice per (batch, head)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324000" y="3006000"/>
            <a:ext cx="3348000" cy="299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0" lang="en-US" sz="800" spc="-1" strike="noStrike">
                <a:solidFill>
                  <a:srgbClr val="66727e"/>
                </a:solidFill>
                <a:latin typeface="Times New Roman"/>
              </a:rPr>
              <a:t>row t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306000" y="3168000"/>
            <a:ext cx="3276000" cy="90000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183447"/>
            </a:solidFill>
            <a:round/>
          </a:ln>
        </p:spPr>
      </p:sp>
      <p:sp>
        <p:nvSpPr>
          <p:cNvPr id="135" name=""/>
          <p:cNvSpPr/>
          <p:nvPr/>
        </p:nvSpPr>
        <p:spPr>
          <a:xfrm>
            <a:off x="396000" y="3330000"/>
            <a:ext cx="273600" cy="252000"/>
          </a:xfrm>
          <a:prstGeom prst="roundRect">
            <a:avLst/>
          </a:prstGeom>
          <a:solidFill>
            <a:srgbClr val="eaa100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Times New Roman"/>
              </a:rPr>
              <a:t>0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381600" y="3607200"/>
            <a:ext cx="302400" cy="299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700" spc="-1" strike="noStrike">
                <a:solidFill>
                  <a:srgbClr val="66727e"/>
                </a:solidFill>
                <a:latin typeface="Times New Roman"/>
              </a:rPr>
              <a:t>A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730800" y="3330000"/>
            <a:ext cx="273600" cy="2520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Times New Roman"/>
              </a:rPr>
              <a:t>−∞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716400" y="3607200"/>
            <a:ext cx="3024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700" spc="-1" strike="noStrike">
                <a:solidFill>
                  <a:srgbClr val="66727e"/>
                </a:solidFill>
                <a:latin typeface="Times New Roman"/>
              </a:rPr>
              <a:t>B₁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1065600" y="3330000"/>
            <a:ext cx="273600" cy="2520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Times New Roman"/>
              </a:rPr>
              <a:t>0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051200" y="3607200"/>
            <a:ext cx="3024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700" spc="-1" strike="noStrike">
                <a:solidFill>
                  <a:srgbClr val="66727e"/>
                </a:solidFill>
                <a:latin typeface="Times New Roman"/>
              </a:rPr>
              <a:t>B₂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1400400" y="3330000"/>
            <a:ext cx="273600" cy="2520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Times New Roman"/>
              </a:rPr>
              <a:t>−∞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386000" y="3607200"/>
            <a:ext cx="3024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700" spc="-1" strike="noStrike">
                <a:solidFill>
                  <a:srgbClr val="66727e"/>
                </a:solidFill>
                <a:latin typeface="Times New Roman"/>
              </a:rPr>
              <a:t>B₃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1735200" y="3330000"/>
            <a:ext cx="273600" cy="2520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Times New Roman"/>
              </a:rPr>
              <a:t>0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1720800" y="3607200"/>
            <a:ext cx="3024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700" spc="-1" strike="noStrike">
                <a:solidFill>
                  <a:srgbClr val="66727e"/>
                </a:solidFill>
                <a:latin typeface="Times New Roman"/>
              </a:rPr>
              <a:t>B₄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2070000" y="3330000"/>
            <a:ext cx="273600" cy="2520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Times New Roman"/>
              </a:rPr>
              <a:t>−∞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2055600" y="3607200"/>
            <a:ext cx="3024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700" spc="-1" strike="noStrike">
                <a:solidFill>
                  <a:srgbClr val="66727e"/>
                </a:solidFill>
                <a:latin typeface="Times New Roman"/>
              </a:rPr>
              <a:t>B₅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2404800" y="3330000"/>
            <a:ext cx="273600" cy="252000"/>
          </a:xfrm>
          <a:prstGeom prst="roundRect">
            <a:avLst/>
          </a:prstGeom>
          <a:solidFill>
            <a:srgbClr val="07967f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Times New Roman"/>
              </a:rPr>
              <a:t>0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2390400" y="3607200"/>
            <a:ext cx="302400" cy="299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700" spc="-1" strike="noStrike">
                <a:solidFill>
                  <a:srgbClr val="66727e"/>
                </a:solidFill>
                <a:latin typeface="Times New Roman"/>
              </a:rPr>
              <a:t>qⱼ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2739600" y="3330000"/>
            <a:ext cx="273600" cy="252000"/>
          </a:xfrm>
          <a:prstGeom prst="roundRect">
            <a:avLst/>
          </a:prstGeom>
          <a:solidFill>
            <a:srgbClr val="07967f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Times New Roman"/>
              </a:rPr>
              <a:t>0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2725200" y="3607200"/>
            <a:ext cx="3024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700" spc="-1" strike="noStrike">
                <a:solidFill>
                  <a:srgbClr val="66727e"/>
                </a:solidFill>
                <a:latin typeface="Times New Roman"/>
              </a:rPr>
              <a:t>G&lt;t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3074400" y="3330000"/>
            <a:ext cx="273600" cy="2520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Times New Roman"/>
              </a:rPr>
              <a:t>−∞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3060000" y="3607200"/>
            <a:ext cx="302400" cy="811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700" spc="-1" strike="noStrike">
                <a:solidFill>
                  <a:srgbClr val="66727e"/>
                </a:solidFill>
                <a:latin typeface="Times New Roman"/>
              </a:rPr>
              <a:t>other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360000" y="4176000"/>
            <a:ext cx="3204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0" lang="en-US" sz="800" spc="-1" strike="noStrike">
                <a:solidFill>
                  <a:srgbClr val="66727e"/>
                </a:solidFill>
                <a:latin typeface="Times New Roman"/>
              </a:rPr>
              <a:t>0 = visible to this decode row · −∞ = hidden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3708000" y="3078000"/>
            <a:ext cx="1080000" cy="124200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183447"/>
            </a:solidFill>
            <a:round/>
          </a:ln>
        </p:spPr>
      </p:sp>
      <p:sp>
        <p:nvSpPr>
          <p:cNvPr id="155" name=""/>
          <p:cNvSpPr txBox="1"/>
          <p:nvPr/>
        </p:nvSpPr>
        <p:spPr>
          <a:xfrm>
            <a:off x="3816000" y="3175200"/>
            <a:ext cx="864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Times New Roman"/>
              </a:rPr>
              <a:t>Allowed keys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3816000" y="3420000"/>
            <a:ext cx="864000" cy="8114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b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1e5eae"/>
                </a:solidFill>
                <a:latin typeface="Times New Roman"/>
              </a:rPr>
              <a:t>A ∪ Sⱼ ∪ qⱼ ∪ G&lt;t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3816000" y="3762000"/>
            <a:ext cx="864000" cy="1579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b">
            <a:noAutofit/>
          </a:bodyPr>
          <a:p>
            <a:pPr algn="ctr">
              <a:buNone/>
            </a:pPr>
            <a:r>
              <a:rPr b="1" lang="en-US" sz="850" spc="-1" strike="noStrike">
                <a:solidFill>
                  <a:srgbClr val="087565"/>
                </a:solidFill>
                <a:latin typeface="Times New Roman"/>
              </a:rPr>
              <a:t>mask changes;</a:t>
            </a:r>
            <a:endParaRPr b="0" lang="en-US" sz="850" spc="-1" strike="noStrike">
              <a:latin typeface="Arial"/>
            </a:endParaRPr>
          </a:p>
          <a:p>
            <a:pPr algn="ctr">
              <a:buNone/>
            </a:pPr>
            <a:r>
              <a:rPr b="1" lang="en-US" sz="850" spc="-1" strike="noStrike">
                <a:solidFill>
                  <a:srgbClr val="087565"/>
                </a:solidFill>
                <a:latin typeface="Times New Roman"/>
              </a:rPr>
              <a:t>cache does not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5400000" y="2678400"/>
            <a:ext cx="4554000" cy="230400"/>
          </a:xfrm>
          <a:prstGeom prst="roundRect">
            <a:avLst/>
          </a:prstGeom>
          <a:solidFill>
            <a:srgbClr val="e4f4ef"/>
          </a:solidFill>
          <a:ln w="0">
            <a:noFill/>
          </a:ln>
        </p:spPr>
        <p:txBody>
          <a:bodyPr lIns="43200" rIns="43200" tIns="21600" bIns="21600" anchor="b" anchorCtr="1">
            <a:noAutofit/>
          </a:bodyPr>
          <a:p>
            <a:pPr algn="ctr">
              <a:buNone/>
            </a:pPr>
            <a:r>
              <a:rPr b="0" lang="en-US" sz="1050" spc="-1" strike="noStrike">
                <a:solidFill>
                  <a:srgbClr val="087565"/>
                </a:solidFill>
                <a:latin typeface="Times New Roman"/>
              </a:rPr>
              <a:t>Attn(Q,K,V;Mⱼ) = softmax(QKᵀ/√d + Mⱼ)V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5562000" y="3150000"/>
            <a:ext cx="414000" cy="324000"/>
          </a:xfrm>
          <a:prstGeom prst="roundRect">
            <a:avLst/>
          </a:prstGeom>
          <a:solidFill>
            <a:srgbClr val="eaa100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Times New Roman"/>
              </a:rPr>
              <a:t>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6066000" y="3150000"/>
            <a:ext cx="414000" cy="3240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aeb7bf"/>
                </a:solidFill>
                <a:latin typeface="Times New Roman"/>
              </a:rPr>
              <a:t>B₁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6570000" y="3150000"/>
            <a:ext cx="414000" cy="3240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Times New Roman"/>
              </a:rPr>
              <a:t>B₂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7074000" y="3150000"/>
            <a:ext cx="414000" cy="3240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aeb7bf"/>
                </a:solidFill>
                <a:latin typeface="Times New Roman"/>
              </a:rPr>
              <a:t>B₃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7578000" y="3150000"/>
            <a:ext cx="414000" cy="324000"/>
          </a:xfrm>
          <a:prstGeom prst="roundRect">
            <a:avLst/>
          </a:prstGeom>
          <a:solidFill>
            <a:srgbClr val="2f78d1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Times New Roman"/>
              </a:rPr>
              <a:t>B₄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8082000" y="3150000"/>
            <a:ext cx="414000" cy="324000"/>
          </a:xfrm>
          <a:prstGeom prst="roundRect">
            <a:avLst/>
          </a:prstGeom>
          <a:solidFill>
            <a:srgbClr val="e5e9ec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aeb7bf"/>
                </a:solidFill>
                <a:latin typeface="Times New Roman"/>
              </a:rPr>
              <a:t>B₅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8586000" y="3150000"/>
            <a:ext cx="414000" cy="324000"/>
          </a:xfrm>
          <a:prstGeom prst="roundRect">
            <a:avLst/>
          </a:prstGeom>
          <a:solidFill>
            <a:srgbClr val="07967f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Times New Roman"/>
              </a:rPr>
              <a:t>qⱼ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9090000" y="3150000"/>
            <a:ext cx="414000" cy="324000"/>
          </a:xfrm>
          <a:prstGeom prst="roundRect">
            <a:avLst/>
          </a:prstGeom>
          <a:solidFill>
            <a:srgbClr val="07967f"/>
          </a:solidFill>
          <a:ln w="0">
            <a:noFill/>
          </a:ln>
        </p:spPr>
        <p:txBody>
          <a:bodyPr lIns="7200" rIns="7200" tIns="3600" bIns="3600" anchor="b" anchorCtr="1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Times New Roman"/>
              </a:rPr>
              <a:t>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8820000" y="3996000"/>
            <a:ext cx="324000" cy="324000"/>
          </a:xfrm>
          <a:prstGeom prst="roundRect">
            <a:avLst/>
          </a:prstGeom>
          <a:solidFill>
            <a:srgbClr val="07967f"/>
          </a:solidFill>
          <a:ln w="0">
            <a:noFill/>
          </a:ln>
        </p:spPr>
      </p:sp>
      <p:sp>
        <p:nvSpPr>
          <p:cNvPr id="168" name=""/>
          <p:cNvSpPr txBox="1"/>
          <p:nvPr/>
        </p:nvSpPr>
        <p:spPr>
          <a:xfrm>
            <a:off x="9198000" y="4050000"/>
            <a:ext cx="792000" cy="555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21600" bIns="21600" anchor="t">
            <a:noAutofit/>
          </a:bodyPr>
          <a:p>
            <a:r>
              <a:rPr b="1" lang="en-US" sz="900" spc="-1" strike="noStrike">
                <a:solidFill>
                  <a:srgbClr val="087565"/>
                </a:solidFill>
                <a:latin typeface="Times New Roman"/>
              </a:rPr>
              <a:t>next token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5769000" y="3474000"/>
            <a:ext cx="3213000" cy="522000"/>
          </a:xfrm>
          <a:prstGeom prst="line">
            <a:avLst/>
          </a:prstGeom>
          <a:ln w="9000">
            <a:solidFill>
              <a:srgbClr val="eaa1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"/>
          <p:cNvSpPr/>
          <p:nvPr/>
        </p:nvSpPr>
        <p:spPr>
          <a:xfrm>
            <a:off x="6273000" y="3474000"/>
            <a:ext cx="2709000" cy="522000"/>
          </a:xfrm>
          <a:prstGeom prst="line">
            <a:avLst/>
          </a:prstGeom>
          <a:ln w="9000">
            <a:solidFill>
              <a:srgbClr val="aeb7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"/>
          <p:cNvSpPr/>
          <p:nvPr/>
        </p:nvSpPr>
        <p:spPr>
          <a:xfrm>
            <a:off x="6777000" y="3474000"/>
            <a:ext cx="2205000" cy="522000"/>
          </a:xfrm>
          <a:prstGeom prst="line">
            <a:avLst/>
          </a:prstGeom>
          <a:ln w="9000">
            <a:solidFill>
              <a:srgbClr val="2f78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"/>
          <p:cNvSpPr/>
          <p:nvPr/>
        </p:nvSpPr>
        <p:spPr>
          <a:xfrm>
            <a:off x="7281000" y="3474000"/>
            <a:ext cx="1701000" cy="522000"/>
          </a:xfrm>
          <a:prstGeom prst="line">
            <a:avLst/>
          </a:prstGeom>
          <a:ln w="9000">
            <a:solidFill>
              <a:srgbClr val="aeb7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"/>
          <p:cNvSpPr/>
          <p:nvPr/>
        </p:nvSpPr>
        <p:spPr>
          <a:xfrm>
            <a:off x="7785000" y="3474000"/>
            <a:ext cx="1197000" cy="522000"/>
          </a:xfrm>
          <a:prstGeom prst="line">
            <a:avLst/>
          </a:prstGeom>
          <a:ln w="9000">
            <a:solidFill>
              <a:srgbClr val="2f78d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"/>
          <p:cNvSpPr/>
          <p:nvPr/>
        </p:nvSpPr>
        <p:spPr>
          <a:xfrm>
            <a:off x="8289000" y="3474000"/>
            <a:ext cx="693000" cy="522000"/>
          </a:xfrm>
          <a:prstGeom prst="line">
            <a:avLst/>
          </a:prstGeom>
          <a:ln w="9000">
            <a:solidFill>
              <a:srgbClr val="aeb7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"/>
          <p:cNvSpPr/>
          <p:nvPr/>
        </p:nvSpPr>
        <p:spPr>
          <a:xfrm>
            <a:off x="8793000" y="3474000"/>
            <a:ext cx="189000" cy="522000"/>
          </a:xfrm>
          <a:prstGeom prst="line">
            <a:avLst/>
          </a:prstGeom>
          <a:ln w="9000">
            <a:solidFill>
              <a:srgbClr val="07967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"/>
          <p:cNvSpPr/>
          <p:nvPr/>
        </p:nvSpPr>
        <p:spPr>
          <a:xfrm flipH="1">
            <a:off x="8982000" y="3474000"/>
            <a:ext cx="315000" cy="522000"/>
          </a:xfrm>
          <a:prstGeom prst="line">
            <a:avLst/>
          </a:prstGeom>
          <a:ln w="9000">
            <a:solidFill>
              <a:srgbClr val="07967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"/>
          <p:cNvSpPr/>
          <p:nvPr/>
        </p:nvSpPr>
        <p:spPr>
          <a:xfrm>
            <a:off x="5526000" y="4435200"/>
            <a:ext cx="4356000" cy="187200"/>
          </a:xfrm>
          <a:prstGeom prst="roundRect">
            <a:avLst/>
          </a:prstGeom>
          <a:solidFill>
            <a:srgbClr val="183447"/>
          </a:solidFill>
          <a:ln w="0">
            <a:noFill/>
          </a:ln>
        </p:spPr>
        <p:txBody>
          <a:bodyPr lIns="43200" rIns="43200" tIns="21600" bIns="21600" anchor="b" anchorCtr="1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ffffff"/>
                </a:solidFill>
                <a:latin typeface="Times New Roman"/>
              </a:rPr>
              <a:t>NO GATHER · NO EVICTION · NO RE-READ · M-ROPE UNCHANGED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324000" y="5248800"/>
            <a:ext cx="1872000" cy="378000"/>
          </a:xfrm>
          <a:prstGeom prst="roundRect">
            <a:avLst/>
          </a:prstGeom>
          <a:solidFill>
            <a:srgbClr val="eef5fc"/>
          </a:solidFill>
          <a:ln w="9000">
            <a:solidFill>
              <a:srgbClr val="2f78d1"/>
            </a:solidFill>
            <a:round/>
          </a:ln>
        </p:spPr>
        <p:txBody>
          <a:bodyPr lIns="43200" rIns="43200" tIns="21600" bIns="21600" anchor="b" anchorCtr="1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1e5eae"/>
                </a:solidFill>
                <a:latin typeface="Times New Roman"/>
              </a:rPr>
              <a:t>qⱼ → mask Mⱼ</a:t>
            </a:r>
            <a:endParaRPr b="0" lang="en-US" sz="1000" spc="-1" strike="noStrike">
              <a:latin typeface="Arial"/>
            </a:endParaRPr>
          </a:p>
          <a:p>
            <a:pPr algn="ctr">
              <a:buNone/>
            </a:pPr>
            <a:r>
              <a:rPr b="1" lang="en-US" sz="1000" spc="-1" strike="noStrike">
                <a:solidFill>
                  <a:srgbClr val="1e5eae"/>
                </a:solidFill>
                <a:latin typeface="Times New Roman"/>
              </a:rPr>
              <a:t>selected view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2250000" y="5436000"/>
            <a:ext cx="468000" cy="0"/>
          </a:xfrm>
          <a:prstGeom prst="line">
            <a:avLst/>
          </a:prstGeom>
          <a:ln w="14400">
            <a:solidFill>
              <a:srgbClr val="18344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"/>
          <p:cNvSpPr/>
          <p:nvPr/>
        </p:nvSpPr>
        <p:spPr>
          <a:xfrm>
            <a:off x="2772000" y="5248800"/>
            <a:ext cx="2340000" cy="378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83447"/>
            </a:solidFill>
            <a:round/>
          </a:ln>
        </p:spPr>
        <p:txBody>
          <a:bodyPr lIns="43200" rIns="43200" tIns="21600" bIns="21600" anchor="b" anchorCtr="1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111111"/>
                </a:solidFill>
                <a:latin typeface="Times New Roman"/>
              </a:rPr>
              <a:t>discard Mⱼ · crop preview</a:t>
            </a:r>
            <a:endParaRPr b="0" lang="en-US" sz="1000" spc="-1" strike="noStrike">
              <a:latin typeface="Arial"/>
            </a:endParaRPr>
          </a:p>
          <a:p>
            <a:pPr algn="ctr">
              <a:buNone/>
            </a:pPr>
            <a:r>
              <a:rPr b="1" lang="en-US" sz="1000" spc="-1" strike="noStrike">
                <a:solidFill>
                  <a:srgbClr val="111111"/>
                </a:solidFill>
                <a:latin typeface="Times New Roman"/>
              </a:rPr>
              <a:t>C remains intact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5166000" y="5436000"/>
            <a:ext cx="486000" cy="0"/>
          </a:xfrm>
          <a:prstGeom prst="line">
            <a:avLst/>
          </a:prstGeom>
          <a:ln w="14400">
            <a:solidFill>
              <a:srgbClr val="18344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"/>
          <p:cNvSpPr/>
          <p:nvPr/>
        </p:nvSpPr>
        <p:spPr>
          <a:xfrm>
            <a:off x="5724000" y="5248800"/>
            <a:ext cx="2016000" cy="378000"/>
          </a:xfrm>
          <a:prstGeom prst="roundRect">
            <a:avLst/>
          </a:prstGeom>
          <a:solidFill>
            <a:srgbClr val="ddf3ee"/>
          </a:solidFill>
          <a:ln w="9000">
            <a:solidFill>
              <a:srgbClr val="07967f"/>
            </a:solidFill>
            <a:round/>
          </a:ln>
        </p:spPr>
        <p:txBody>
          <a:bodyPr lIns="43200" rIns="43200" tIns="21600" bIns="21600" anchor="b" anchorCtr="1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087565"/>
                </a:solidFill>
                <a:latin typeface="Times New Roman"/>
              </a:rPr>
              <a:t>qⱼ₊₁ → new mask</a:t>
            </a:r>
            <a:endParaRPr b="0" lang="en-US" sz="1000" spc="-1" strike="noStrike">
              <a:latin typeface="Arial"/>
            </a:endParaRPr>
          </a:p>
          <a:p>
            <a:pPr algn="ctr">
              <a:buNone/>
            </a:pPr>
            <a:r>
              <a:rPr b="1" lang="en-US" sz="1000" spc="-1" strike="noStrike">
                <a:solidFill>
                  <a:srgbClr val="087565"/>
                </a:solidFill>
                <a:latin typeface="Times New Roman"/>
              </a:rPr>
              <a:t>new view, same cache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7866000" y="5248800"/>
            <a:ext cx="2034000" cy="378000"/>
          </a:xfrm>
          <a:prstGeom prst="roundRect">
            <a:avLst/>
          </a:prstGeom>
          <a:solidFill>
            <a:srgbClr val="f6f7f8"/>
          </a:solidFill>
          <a:ln w="9000">
            <a:solidFill>
              <a:srgbClr val="183447"/>
            </a:solidFill>
            <a:round/>
          </a:ln>
        </p:spPr>
        <p:txBody>
          <a:bodyPr lIns="43200" rIns="43200" tIns="21600" bIns="21600" anchor="b" anchorCtr="1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Times New Roman"/>
              </a:rPr>
              <a:t>IDENTITY AUDIT</a:t>
            </a:r>
            <a:endParaRPr b="0" lang="en-US" sz="900" spc="-1" strike="noStrike">
              <a:latin typeface="Arial"/>
            </a:endParaRPr>
          </a:p>
          <a:p>
            <a:pPr algn="ctr"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Times New Roman"/>
              </a:rPr>
              <a:t>all-true mask: 0 changes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2026-07-26T15:12:27Z</dcterms:modified>
  <cp:revision>1</cp:revision>
  <dc:subject/>
  <dc:title/>
</cp:coreProperties>
</file>