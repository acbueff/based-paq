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391775" cy="61372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1BF9A9-B0BB-4B09-B6AD-EDE3191AC8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607BB9-0C6D-46B5-9DAB-1818059B24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EBAA0A-0A14-44F6-8E22-9FFC956505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E2E33E-CB4D-41D2-BD27-D5E624BF9B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FA8938-920E-45CC-8C06-F0335B4DBE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EEB385-8EB4-4A95-9835-57F43564BE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49D3B0-B26D-4F29-AF26-D145F71A3D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806262-7037-4FBF-BB94-256D1E03CF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92BA59-DBDF-47E2-B2BE-C55A7FC10F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09A536-5D6B-4DF5-9835-C55ACCA1FF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A896CC-C892-4CA0-93BF-7205BA3723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125B0C-C60A-4F45-9061-E371BA50703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177C3E0-C10C-4D68-9900-08CA4327828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126000" y="108000"/>
            <a:ext cx="6768000" cy="5886000"/>
          </a:xfrm>
          <a:prstGeom prst="roundRect">
            <a:avLst/>
          </a:prstGeom>
          <a:solidFill>
            <a:srgbClr val="fbfdff"/>
          </a:solidFill>
          <a:ln w="16200">
            <a:solidFill>
              <a:srgbClr val="183447"/>
            </a:solidFill>
            <a:round/>
          </a:ln>
        </p:spPr>
      </p:sp>
      <p:sp>
        <p:nvSpPr>
          <p:cNvPr id="42" name=""/>
          <p:cNvSpPr txBox="1"/>
          <p:nvPr/>
        </p:nvSpPr>
        <p:spPr>
          <a:xfrm>
            <a:off x="190800" y="147600"/>
            <a:ext cx="288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83447"/>
                </a:solidFill>
                <a:latin typeface="Times New Roman"/>
              </a:rPr>
              <a:t>(a)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5800"/>
            <a:ext cx="63576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11111"/>
                </a:solidFill>
                <a:latin typeface="Times New Roman"/>
              </a:rPr>
              <a:t>Question-conditioned evidence lenses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966000" y="108000"/>
            <a:ext cx="3294000" cy="5886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83447"/>
            </a:solidFill>
            <a:round/>
          </a:ln>
        </p:spPr>
      </p:sp>
      <p:sp>
        <p:nvSpPr>
          <p:cNvPr id="45" name=""/>
          <p:cNvSpPr txBox="1"/>
          <p:nvPr/>
        </p:nvSpPr>
        <p:spPr>
          <a:xfrm>
            <a:off x="7030800" y="147600"/>
            <a:ext cx="288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83447"/>
                </a:solidFill>
                <a:latin typeface="Times New Roman"/>
              </a:rPr>
              <a:t>(b)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7308000" y="145800"/>
            <a:ext cx="28836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11111"/>
                </a:solidFill>
                <a:latin typeface="Times New Roman"/>
              </a:rPr>
              <a:t>Sealed evaluation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32000" y="324000"/>
            <a:ext cx="6120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0" lang="en-US" sz="900" spc="-1" strike="noStrike">
                <a:solidFill>
                  <a:srgbClr val="66727e"/>
                </a:solidFill>
                <a:latin typeface="Times New Roman"/>
              </a:rPr>
              <a:t>Different questions reveal different regions of one retained document memory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24000" y="972000"/>
            <a:ext cx="1512000" cy="792000"/>
          </a:xfrm>
          <a:prstGeom prst="roundRect">
            <a:avLst/>
          </a:prstGeom>
          <a:solidFill>
            <a:srgbClr val="eef5fc"/>
          </a:solidFill>
          <a:ln w="9000">
            <a:solidFill>
              <a:srgbClr val="2f78d1"/>
            </a:solidFill>
            <a:round/>
          </a:ln>
        </p:spPr>
        <p:txBody>
          <a:bodyPr lIns="43200" rIns="43200" tIns="21600" bIns="21600" anchor="b" anchorCtr="1">
            <a:noAutofit/>
          </a:bodyPr>
          <a:p>
            <a:r>
              <a:rPr b="1" lang="en-US" sz="1100" spc="-1" strike="noStrike">
                <a:solidFill>
                  <a:srgbClr val="1e5eae"/>
                </a:solidFill>
                <a:latin typeface="Times New Roman"/>
              </a:rPr>
              <a:t>Q₁   Question 1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solidFill>
                  <a:srgbClr val="1e5eae"/>
                </a:solidFill>
                <a:latin typeface="Times New Roman"/>
              </a:rPr>
              <a:t>reader attention</a:t>
            </a:r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solidFill>
                  <a:srgbClr val="1e5eae"/>
                </a:solidFill>
                <a:latin typeface="Times New Roman"/>
              </a:rPr>
              <a:t>defines view V₁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324000" y="3132000"/>
            <a:ext cx="1512000" cy="792000"/>
          </a:xfrm>
          <a:prstGeom prst="roundRect">
            <a:avLst/>
          </a:prstGeom>
          <a:solidFill>
            <a:srgbClr val="eff9f6"/>
          </a:solidFill>
          <a:ln w="9000">
            <a:solidFill>
              <a:srgbClr val="07967f"/>
            </a:solidFill>
            <a:round/>
          </a:ln>
        </p:spPr>
        <p:txBody>
          <a:bodyPr lIns="43200" rIns="43200" tIns="21600" bIns="21600" anchor="b" anchorCtr="1">
            <a:noAutofit/>
          </a:bodyPr>
          <a:p>
            <a:r>
              <a:rPr b="1" lang="en-US" sz="1100" spc="-1" strike="noStrike">
                <a:solidFill>
                  <a:srgbClr val="087565"/>
                </a:solidFill>
                <a:latin typeface="Times New Roman"/>
              </a:rPr>
              <a:t>Q₂   Question 2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solidFill>
                  <a:srgbClr val="087565"/>
                </a:solidFill>
                <a:latin typeface="Times New Roman"/>
              </a:rPr>
              <a:t>new attention</a:t>
            </a:r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solidFill>
                  <a:srgbClr val="087565"/>
                </a:solidFill>
                <a:latin typeface="Times New Roman"/>
              </a:rPr>
              <a:t>defines view V₂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836000" y="1188000"/>
            <a:ext cx="1512000" cy="684000"/>
          </a:xfrm>
          <a:prstGeom prst="line">
            <a:avLst/>
          </a:prstGeom>
          <a:ln w="10800">
            <a:solidFill>
              <a:srgbClr val="2f78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"/>
          <p:cNvSpPr/>
          <p:nvPr/>
        </p:nvSpPr>
        <p:spPr>
          <a:xfrm>
            <a:off x="1836000" y="1584000"/>
            <a:ext cx="1512000" cy="936000"/>
          </a:xfrm>
          <a:prstGeom prst="line">
            <a:avLst/>
          </a:prstGeom>
          <a:ln w="10800">
            <a:solidFill>
              <a:srgbClr val="2f78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"/>
          <p:cNvSpPr/>
          <p:nvPr/>
        </p:nvSpPr>
        <p:spPr>
          <a:xfrm flipV="1">
            <a:off x="1836000" y="2700000"/>
            <a:ext cx="1512000" cy="612000"/>
          </a:xfrm>
          <a:prstGeom prst="line">
            <a:avLst/>
          </a:prstGeom>
          <a:ln w="10800">
            <a:solidFill>
              <a:srgbClr val="07967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"/>
          <p:cNvSpPr/>
          <p:nvPr/>
        </p:nvSpPr>
        <p:spPr>
          <a:xfrm flipV="1">
            <a:off x="1836000" y="3168000"/>
            <a:ext cx="1512000" cy="540000"/>
          </a:xfrm>
          <a:prstGeom prst="line">
            <a:avLst/>
          </a:prstGeom>
          <a:ln w="10800">
            <a:solidFill>
              <a:srgbClr val="07967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"/>
          <p:cNvSpPr txBox="1"/>
          <p:nvPr/>
        </p:nvSpPr>
        <p:spPr>
          <a:xfrm>
            <a:off x="2340000" y="1512000"/>
            <a:ext cx="684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1e5eae"/>
                </a:solidFill>
                <a:latin typeface="Times New Roman"/>
              </a:rPr>
              <a:t>query lens 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2340000" y="3348000"/>
            <a:ext cx="684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087565"/>
                </a:solidFill>
                <a:latin typeface="Times New Roman"/>
              </a:rPr>
              <a:t>query lens 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312000" y="648000"/>
            <a:ext cx="1404000" cy="4176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83447"/>
            </a:solidFill>
            <a:round/>
          </a:ln>
        </p:spPr>
      </p:sp>
      <p:sp>
        <p:nvSpPr>
          <p:cNvPr id="57" name=""/>
          <p:cNvSpPr txBox="1"/>
          <p:nvPr/>
        </p:nvSpPr>
        <p:spPr>
          <a:xfrm>
            <a:off x="3391200" y="684000"/>
            <a:ext cx="1245600" cy="77544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3600" bIns="3600" anchor="b">
            <a:noAutofit/>
          </a:bodyPr>
          <a:p>
            <a:pPr algn="ctr">
              <a:buNone/>
            </a:pPr>
            <a:r>
              <a:rPr b="1" lang="en-US" sz="950" spc="-1" strike="noStrike">
                <a:solidFill>
                  <a:srgbClr val="183447"/>
                </a:solidFill>
                <a:latin typeface="Times New Roman"/>
              </a:rPr>
              <a:t>RETAINED KV</a:t>
            </a:r>
            <a:endParaRPr b="0" lang="en-US" sz="950" spc="-1" strike="noStrike">
              <a:latin typeface="Arial"/>
            </a:endParaRPr>
          </a:p>
          <a:p>
            <a:pPr algn="ctr">
              <a:buNone/>
            </a:pPr>
            <a:r>
              <a:rPr b="1" lang="en-US" sz="950" spc="-1" strike="noStrike">
                <a:solidFill>
                  <a:srgbClr val="183447"/>
                </a:solidFill>
                <a:latin typeface="Times New Roman"/>
              </a:rPr>
              <a:t>CACHE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402000" y="957600"/>
            <a:ext cx="1224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full-context positions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600000" y="1134000"/>
            <a:ext cx="828000" cy="223200"/>
          </a:xfrm>
          <a:prstGeom prst="roundRect">
            <a:avLst/>
          </a:prstGeom>
          <a:solidFill>
            <a:srgbClr val="eaa100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Times New Roman"/>
              </a:rPr>
              <a:t>always-keep A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600000" y="1440000"/>
            <a:ext cx="828000" cy="1548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61" name=""/>
          <p:cNvSpPr/>
          <p:nvPr/>
        </p:nvSpPr>
        <p:spPr>
          <a:xfrm>
            <a:off x="3600000" y="1659600"/>
            <a:ext cx="828000" cy="1548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62" name=""/>
          <p:cNvSpPr/>
          <p:nvPr/>
        </p:nvSpPr>
        <p:spPr>
          <a:xfrm>
            <a:off x="3600000" y="1879200"/>
            <a:ext cx="828000" cy="1548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63" name=""/>
          <p:cNvSpPr/>
          <p:nvPr/>
        </p:nvSpPr>
        <p:spPr>
          <a:xfrm>
            <a:off x="3600000" y="2098800"/>
            <a:ext cx="828000" cy="1548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64" name=""/>
          <p:cNvSpPr/>
          <p:nvPr/>
        </p:nvSpPr>
        <p:spPr>
          <a:xfrm>
            <a:off x="3600000" y="2318400"/>
            <a:ext cx="828000" cy="1548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65" name=""/>
          <p:cNvSpPr/>
          <p:nvPr/>
        </p:nvSpPr>
        <p:spPr>
          <a:xfrm>
            <a:off x="3600000" y="2538000"/>
            <a:ext cx="828000" cy="1548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</p:sp>
      <p:sp>
        <p:nvSpPr>
          <p:cNvPr id="66" name=""/>
          <p:cNvSpPr/>
          <p:nvPr/>
        </p:nvSpPr>
        <p:spPr>
          <a:xfrm>
            <a:off x="3600000" y="2757600"/>
            <a:ext cx="828000" cy="1548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67" name=""/>
          <p:cNvSpPr/>
          <p:nvPr/>
        </p:nvSpPr>
        <p:spPr>
          <a:xfrm>
            <a:off x="3600000" y="2977200"/>
            <a:ext cx="828000" cy="1548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68" name=""/>
          <p:cNvSpPr/>
          <p:nvPr/>
        </p:nvSpPr>
        <p:spPr>
          <a:xfrm>
            <a:off x="3600000" y="3196800"/>
            <a:ext cx="828000" cy="1548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69" name=""/>
          <p:cNvSpPr/>
          <p:nvPr/>
        </p:nvSpPr>
        <p:spPr>
          <a:xfrm>
            <a:off x="3600000" y="3416400"/>
            <a:ext cx="828000" cy="1548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</p:sp>
      <p:sp>
        <p:nvSpPr>
          <p:cNvPr id="70" name=""/>
          <p:cNvSpPr/>
          <p:nvPr/>
        </p:nvSpPr>
        <p:spPr>
          <a:xfrm>
            <a:off x="3600000" y="3636000"/>
            <a:ext cx="828000" cy="1548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71" name=""/>
          <p:cNvSpPr/>
          <p:nvPr/>
        </p:nvSpPr>
        <p:spPr>
          <a:xfrm>
            <a:off x="3600000" y="3855600"/>
            <a:ext cx="828000" cy="1548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72" name=""/>
          <p:cNvSpPr txBox="1"/>
          <p:nvPr/>
        </p:nvSpPr>
        <p:spPr>
          <a:xfrm>
            <a:off x="3438000" y="4579200"/>
            <a:ext cx="1152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087565"/>
                </a:solidFill>
                <a:latin typeface="Times New Roman"/>
              </a:rPr>
              <a:t>cache never changes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716000" y="1872000"/>
            <a:ext cx="360000" cy="0"/>
          </a:xfrm>
          <a:prstGeom prst="line">
            <a:avLst/>
          </a:prstGeom>
          <a:ln w="16200">
            <a:solidFill>
              <a:srgbClr val="2f78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"/>
          <p:cNvSpPr/>
          <p:nvPr/>
        </p:nvSpPr>
        <p:spPr>
          <a:xfrm>
            <a:off x="4716000" y="3168000"/>
            <a:ext cx="360000" cy="0"/>
          </a:xfrm>
          <a:prstGeom prst="line">
            <a:avLst/>
          </a:prstGeom>
          <a:ln w="16200">
            <a:solidFill>
              <a:srgbClr val="07967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"/>
          <p:cNvSpPr/>
          <p:nvPr/>
        </p:nvSpPr>
        <p:spPr>
          <a:xfrm>
            <a:off x="5112000" y="1188000"/>
            <a:ext cx="1440000" cy="1296000"/>
          </a:xfrm>
          <a:prstGeom prst="roundRect">
            <a:avLst/>
          </a:prstGeom>
          <a:solidFill>
            <a:srgbClr val="ffffff"/>
          </a:solidFill>
          <a:ln w="14400">
            <a:solidFill>
              <a:srgbClr val="2f78d1"/>
            </a:solidFill>
            <a:round/>
          </a:ln>
        </p:spPr>
      </p:sp>
      <p:sp>
        <p:nvSpPr>
          <p:cNvPr id="76" name=""/>
          <p:cNvSpPr txBox="1"/>
          <p:nvPr/>
        </p:nvSpPr>
        <p:spPr>
          <a:xfrm>
            <a:off x="5220000" y="1278000"/>
            <a:ext cx="12240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1" lang="en-US" sz="1100" spc="-1" strike="noStrike">
                <a:solidFill>
                  <a:srgbClr val="1e5eae"/>
                </a:solidFill>
                <a:latin typeface="Times New Roman"/>
              </a:rPr>
              <a:t>View V₁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220000" y="1429200"/>
            <a:ext cx="1224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≈ </a:t>
            </a:r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5% exposed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310000" y="1710000"/>
            <a:ext cx="151200" cy="324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79" name=""/>
          <p:cNvSpPr/>
          <p:nvPr/>
        </p:nvSpPr>
        <p:spPr>
          <a:xfrm>
            <a:off x="5511600" y="1710000"/>
            <a:ext cx="151200" cy="324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80" name=""/>
          <p:cNvSpPr/>
          <p:nvPr/>
        </p:nvSpPr>
        <p:spPr>
          <a:xfrm>
            <a:off x="5713200" y="1710000"/>
            <a:ext cx="151200" cy="324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81" name=""/>
          <p:cNvSpPr/>
          <p:nvPr/>
        </p:nvSpPr>
        <p:spPr>
          <a:xfrm>
            <a:off x="5914800" y="1710000"/>
            <a:ext cx="151200" cy="324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82" name=""/>
          <p:cNvSpPr/>
          <p:nvPr/>
        </p:nvSpPr>
        <p:spPr>
          <a:xfrm>
            <a:off x="6116400" y="1710000"/>
            <a:ext cx="151200" cy="324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83" name=""/>
          <p:cNvSpPr/>
          <p:nvPr/>
        </p:nvSpPr>
        <p:spPr>
          <a:xfrm>
            <a:off x="5436000" y="2124000"/>
            <a:ext cx="792000" cy="180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Times New Roman"/>
              </a:rPr>
              <a:t>decode → A₁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112000" y="2664000"/>
            <a:ext cx="1440000" cy="1296000"/>
          </a:xfrm>
          <a:prstGeom prst="roundRect">
            <a:avLst/>
          </a:prstGeom>
          <a:solidFill>
            <a:srgbClr val="ffffff"/>
          </a:solidFill>
          <a:ln w="14400">
            <a:solidFill>
              <a:srgbClr val="07967f"/>
            </a:solidFill>
            <a:round/>
          </a:ln>
        </p:spPr>
      </p:sp>
      <p:sp>
        <p:nvSpPr>
          <p:cNvPr id="85" name=""/>
          <p:cNvSpPr txBox="1"/>
          <p:nvPr/>
        </p:nvSpPr>
        <p:spPr>
          <a:xfrm>
            <a:off x="5220000" y="2754000"/>
            <a:ext cx="12240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1" lang="en-US" sz="1100" spc="-1" strike="noStrike">
                <a:solidFill>
                  <a:srgbClr val="087565"/>
                </a:solidFill>
                <a:latin typeface="Times New Roman"/>
              </a:rPr>
              <a:t>View V₂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220000" y="2905200"/>
            <a:ext cx="1224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different ≈ 5%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310000" y="3186000"/>
            <a:ext cx="151200" cy="324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88" name=""/>
          <p:cNvSpPr/>
          <p:nvPr/>
        </p:nvSpPr>
        <p:spPr>
          <a:xfrm>
            <a:off x="5511600" y="3186000"/>
            <a:ext cx="151200" cy="3240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</p:sp>
      <p:sp>
        <p:nvSpPr>
          <p:cNvPr id="89" name=""/>
          <p:cNvSpPr/>
          <p:nvPr/>
        </p:nvSpPr>
        <p:spPr>
          <a:xfrm>
            <a:off x="5713200" y="3186000"/>
            <a:ext cx="151200" cy="324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90" name=""/>
          <p:cNvSpPr/>
          <p:nvPr/>
        </p:nvSpPr>
        <p:spPr>
          <a:xfrm>
            <a:off x="5914800" y="3186000"/>
            <a:ext cx="151200" cy="3240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</p:sp>
      <p:sp>
        <p:nvSpPr>
          <p:cNvPr id="91" name=""/>
          <p:cNvSpPr/>
          <p:nvPr/>
        </p:nvSpPr>
        <p:spPr>
          <a:xfrm>
            <a:off x="6116400" y="3186000"/>
            <a:ext cx="151200" cy="324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92" name=""/>
          <p:cNvSpPr/>
          <p:nvPr/>
        </p:nvSpPr>
        <p:spPr>
          <a:xfrm>
            <a:off x="5436000" y="3600000"/>
            <a:ext cx="792000" cy="1800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Times New Roman"/>
              </a:rPr>
              <a:t>decode → A₂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24000" y="5292000"/>
            <a:ext cx="6228000" cy="273600"/>
          </a:xfrm>
          <a:prstGeom prst="roundRect">
            <a:avLst/>
          </a:prstGeom>
          <a:solidFill>
            <a:srgbClr val="183447"/>
          </a:solidFill>
          <a:ln w="0">
            <a:noFill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Times New Roman"/>
              </a:rPr>
              <a:t>SELECTION CHANGES · MEMORY DOES NOT · NO GATHER · NO RE-READ · FULL REVERSIBILITY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7164000" y="396000"/>
            <a:ext cx="28800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100" spc="-1" strike="noStrike">
                <a:solidFill>
                  <a:srgbClr val="183447"/>
                </a:solidFill>
                <a:latin typeface="Times New Roman"/>
              </a:rPr>
              <a:t>MMLongBench-Doc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164000" y="576000"/>
            <a:ext cx="28800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0" lang="en-US" sz="900" spc="-1" strike="noStrike">
                <a:solidFill>
                  <a:srgbClr val="66727e"/>
                </a:solidFill>
                <a:latin typeface="Times New Roman"/>
              </a:rPr>
              <a:t>fresh, disjoint test set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7164000" y="882000"/>
            <a:ext cx="2880000" cy="270000"/>
          </a:xfrm>
          <a:prstGeom prst="roundRect">
            <a:avLst/>
          </a:prstGeom>
          <a:solidFill>
            <a:srgbClr val="eef5fc"/>
          </a:solidFill>
          <a:ln w="0">
            <a:noFill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e5eae"/>
                </a:solidFill>
                <a:latin typeface="Times New Roman"/>
              </a:rPr>
              <a:t>matched nominal 5% evidence budget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164000" y="1260000"/>
            <a:ext cx="28800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900" spc="-1" strike="noStrike">
                <a:solidFill>
                  <a:srgbClr val="66727e"/>
                </a:solidFill>
                <a:latin typeface="Times New Roman"/>
              </a:rPr>
              <a:t>BENCHMARK ACCURACY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164000" y="1530000"/>
            <a:ext cx="792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000" spc="-1" strike="noStrike">
                <a:solidFill>
                  <a:srgbClr val="1e5eae"/>
                </a:solidFill>
                <a:latin typeface="Times New Roman"/>
              </a:rPr>
              <a:t>PAQ-KV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7164000" y="1710000"/>
            <a:ext cx="2340000" cy="342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100" name=""/>
          <p:cNvSpPr txBox="1"/>
          <p:nvPr/>
        </p:nvSpPr>
        <p:spPr>
          <a:xfrm>
            <a:off x="8856000" y="1753200"/>
            <a:ext cx="576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b">
            <a:noAutofit/>
          </a:bodyPr>
          <a:p>
            <a:pPr algn="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Times New Roman"/>
              </a:rPr>
              <a:t>0.396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164000" y="2250000"/>
            <a:ext cx="792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000" spc="-1" strike="noStrike">
                <a:solidFill>
                  <a:srgbClr val="66727e"/>
                </a:solidFill>
                <a:latin typeface="Times New Roman"/>
              </a:rPr>
              <a:t>ColQwen2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7164000" y="2430000"/>
            <a:ext cx="1890000" cy="342000"/>
          </a:xfrm>
          <a:prstGeom prst="roundRect">
            <a:avLst/>
          </a:prstGeom>
          <a:solidFill>
            <a:srgbClr val="aeb7bf"/>
          </a:solidFill>
          <a:ln w="0">
            <a:noFill/>
          </a:ln>
        </p:spPr>
      </p:sp>
      <p:sp>
        <p:nvSpPr>
          <p:cNvPr id="103" name=""/>
          <p:cNvSpPr txBox="1"/>
          <p:nvPr/>
        </p:nvSpPr>
        <p:spPr>
          <a:xfrm>
            <a:off x="8406000" y="2473200"/>
            <a:ext cx="576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b">
            <a:noAutofit/>
          </a:bodyPr>
          <a:p>
            <a:pPr algn="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Times New Roman"/>
              </a:rPr>
              <a:t>0.320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164000" y="2934000"/>
            <a:ext cx="2520000" cy="0"/>
          </a:xfrm>
          <a:prstGeom prst="line">
            <a:avLst/>
          </a:prstGeom>
          <a:ln w="7200">
            <a:solidFill>
              <a:srgbClr val="aeb7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 txBox="1"/>
          <p:nvPr/>
        </p:nvSpPr>
        <p:spPr>
          <a:xfrm>
            <a:off x="7074000" y="2962800"/>
            <a:ext cx="252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0.0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7686000" y="2962800"/>
            <a:ext cx="252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0.1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298000" y="2962800"/>
            <a:ext cx="252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0.2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910000" y="2962800"/>
            <a:ext cx="252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0.3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522000" y="2962800"/>
            <a:ext cx="252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0.4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856000" y="1404000"/>
            <a:ext cx="936000" cy="223200"/>
          </a:xfrm>
          <a:prstGeom prst="roundRect">
            <a:avLst/>
          </a:prstGeom>
          <a:solidFill>
            <a:srgbClr val="ddf3ee"/>
          </a:solidFill>
          <a:ln w="9000">
            <a:solidFill>
              <a:srgbClr val="07967f"/>
            </a:solidFill>
            <a:round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087565"/>
                </a:solidFill>
                <a:latin typeface="Times New Roman"/>
              </a:rPr>
              <a:t>+0.076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8946000" y="1692000"/>
            <a:ext cx="648000" cy="0"/>
          </a:xfrm>
          <a:prstGeom prst="line">
            <a:avLst/>
          </a:prstGeom>
          <a:ln w="12600">
            <a:solidFill>
              <a:srgbClr val="07967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8946000" y="1627200"/>
            <a:ext cx="0" cy="129600"/>
          </a:xfrm>
          <a:prstGeom prst="line">
            <a:avLst/>
          </a:prstGeom>
          <a:ln w="12600">
            <a:solidFill>
              <a:srgbClr val="07967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9594000" y="1627200"/>
            <a:ext cx="0" cy="129600"/>
          </a:xfrm>
          <a:prstGeom prst="line">
            <a:avLst/>
          </a:prstGeom>
          <a:ln w="12600">
            <a:solidFill>
              <a:srgbClr val="07967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7164000" y="3312000"/>
            <a:ext cx="2880000" cy="648000"/>
          </a:xfrm>
          <a:prstGeom prst="roundRect">
            <a:avLst/>
          </a:prstGeom>
          <a:solidFill>
            <a:srgbClr val="e4f4ef"/>
          </a:solidFill>
          <a:ln w="9000">
            <a:solidFill>
              <a:srgbClr val="07967f"/>
            </a:solidFill>
            <a:round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087565"/>
                </a:solidFill>
                <a:latin typeface="Times New Roman"/>
              </a:rPr>
              <a:t>95% CI [+0.029, +0.122]</a:t>
            </a:r>
            <a:endParaRPr b="0" lang="en-US" sz="1000" spc="-1" strike="noStrike">
              <a:latin typeface="Arial"/>
            </a:endParaRPr>
          </a:p>
          <a:p>
            <a:pPr algn="ctr">
              <a:buNone/>
            </a:pPr>
            <a:endParaRPr b="0" lang="en-US" sz="1000" spc="-1" strike="noStrike">
              <a:latin typeface="Arial"/>
            </a:endParaRPr>
          </a:p>
          <a:p>
            <a:pPr algn="ctr">
              <a:buNone/>
            </a:pPr>
            <a:r>
              <a:rPr b="1" lang="en-US" sz="1000" spc="-1" strike="noStrike">
                <a:solidFill>
                  <a:srgbClr val="087565"/>
                </a:solidFill>
                <a:latin typeface="Times New Roman"/>
              </a:rPr>
              <a:t>document-cluster paired bootstrap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 flipH="1">
            <a:off x="2880000" y="4356000"/>
            <a:ext cx="4284000" cy="0"/>
          </a:xfrm>
          <a:prstGeom prst="line">
            <a:avLst/>
          </a:prstGeom>
          <a:ln w="7200">
            <a:solidFill>
              <a:srgbClr val="e5e9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 txBox="1"/>
          <p:nvPr/>
        </p:nvSpPr>
        <p:spPr>
          <a:xfrm>
            <a:off x="7164000" y="4500000"/>
            <a:ext cx="2880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45 documents · 244 / 244 queries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164000" y="5004000"/>
            <a:ext cx="2880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b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66727e"/>
                </a:solidFill>
                <a:latin typeface="Times New Roman"/>
              </a:rPr>
              <a:t>Same evidence budget</a:t>
            </a:r>
            <a:endParaRPr b="0" lang="en-US" sz="850" spc="-1" strike="noStrike">
              <a:latin typeface="Arial"/>
            </a:endParaRPr>
          </a:p>
          <a:p>
            <a:pPr algn="ctr">
              <a:buNone/>
            </a:pPr>
            <a:r>
              <a:rPr b="0" lang="en-US" sz="850" spc="-1" strike="noStrike">
                <a:solidFill>
                  <a:srgbClr val="66727e"/>
                </a:solidFill>
                <a:latin typeface="Times New Roman"/>
              </a:rPr>
              <a:t>paired document-level evaluation</a:t>
            </a:r>
            <a:endParaRPr b="0" lang="en-US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2026-07-26T15:12:28Z</dcterms:modified>
  <cp:revision>1</cp:revision>
  <dc:subject/>
  <dc:title/>
</cp:coreProperties>
</file>